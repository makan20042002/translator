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Global Cluster Throughput (Transactions / Second)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1-4355-8AD8-D83684802C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F1-4355-8AD8-D83684802C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F1-4355-8AD8-D83684802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1311"/>
        <c:axId val="123440943"/>
      </c:barChart>
      <c:catAx>
        <c:axId val="19113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440943"/>
        <c:crosses val="autoZero"/>
        <c:auto val="1"/>
        <c:lblAlgn val="ctr"/>
        <c:lblOffset val="100"/>
        <c:noMultiLvlLbl val="0"/>
      </c:catAx>
      <c:valAx>
        <c:axId val="123440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113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BF7E1-1DBC-483C-B908-B80F8301DEFF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162C89-EC5C-428F-B09F-96F08457A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 (Enterprise Cloud Architecture 2026):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2 (Strategic Executive Agenda):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0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3 (Architectural Paradigm Shifts):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34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4 (Microkernel vs Monolithic Kernels):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5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5 (Process Concurrency &amp; Thread Scheduling):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9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6 (High-Throughput Inter-Process Bus):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3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7 (Subsystem Performance Matrix):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83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8 (Distributed Tier Architecture):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62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9 (Cluster Throughput &amp; Latency Benchmarks):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10 (Distributed Consensus &amp; Quorum Governance):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79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11 (Distributed Storage &amp; Log-Structured Merge):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60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12 (Zero-Trust Security &amp; Identity Infrastructure):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81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13 (Observability, Tracing &amp; Chaos Engineering):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3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14 (Disaster Recovery &amp; Multi-Region Failover):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16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15 (Engineering Roadmap &amp; Conclusion): Emphasize the architectural trade-offs between latency and throughput. Be prepared to address questions regarding failure recovery times and zero-copy memory overhead during the engineering Q&amp;A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89-EC5C-428F-B09F-96F08457A28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60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03B6-7E4C-8ED5-6363-B3D5245C7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D59F4-5188-C7EE-03D6-CF64ECC7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A0921-A5F9-1371-2D71-DF2FA3A8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7B0AE-5B09-D503-158F-D8DF0741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FECC2-555F-0BF2-5C8C-CC34A9B7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1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8AFA8-40E0-25C0-4919-B9E5023E4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61DAB-F849-1A8D-E26C-6F635C7C4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C8292-6B46-0DA3-F12C-9BFE8545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918E-C55F-3109-4110-7AD43058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ADF25-31E7-743A-BEBA-7AF81C69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0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D7472-C3E5-EF59-C83D-63951296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45608-0564-8B96-2D13-18805D0C4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02890-A594-084B-FC6D-6BA483F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6D20-2B83-BA4B-00F9-39567CF5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FCC02-51C2-6161-129C-74B5EE1F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CCD5-0109-8F16-BEC9-5E33497D4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FE98F-7514-9048-9C23-0E23CD1F8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05028-274D-7D60-C85A-F51052BAA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D2C15-ECA3-5F8B-A095-8ABC6844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A1BE4-4F75-9363-85E6-B522EA09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098F-12CF-684D-3B9E-F8B089D2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50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8D5C-AFD9-FB27-2558-E74D7CA4C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3BFCE-8CC3-8751-3C64-A18987265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1626E-455C-6862-FEF8-0EF9333E6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9FA7F-DBD1-EF71-519C-C1CE5B9078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2869D0-B613-0E3E-C603-C8627D89F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6B194-2B61-FADA-23AF-DA6CFF71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20F95-E980-10BD-E4CC-59DFBFCA8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A6F198-624A-494D-4EE8-4C16F236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8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13F4-D804-2768-C6E6-B512122F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B1B1C4-43FD-72E8-5A96-18B51BC01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2AD1F-A739-48C9-5C1D-93AA44DF9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50140-16BF-50FA-8A02-63ADED8A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58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D3EB85-EF68-8658-2C3F-B4C712F8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D73137-68F4-DBEC-1876-8883468E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77C3B-B140-6A9C-D79E-4E58268C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9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659A-AC16-8568-E988-CCD320E23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6A69D-BD45-90CE-DBB8-05128DB06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FDC90-A5FC-EC41-6551-71487D77C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EEC81-2EA2-4FAB-FC85-64EEBB5BD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7DAF8-E2F9-3B62-1C75-37CBF214C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E88AC-2F65-739F-1EE8-C6B2D93E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BDE8-21DF-B6BE-FD26-5A35E26C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3AA233-DDFC-028C-16F4-499CF4B832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BB9AD-F212-50E6-CAE5-77A553156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50484-B889-506B-C397-7FB255B6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8D05F-6FB4-B70F-D6A5-9AD0C4ED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F1545-E267-4EFC-AEF6-54E97BCC4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22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15613-19C5-4F9F-61E2-43B820AD5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005A-4A04-8A25-1BF1-3DFAEE9E7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A231-6CED-E1A0-986E-36AF5A5B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FFA7-6B9E-D6BC-3594-81D21F64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ABD2-820C-B968-91F8-822105B9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28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32AA5-B791-7782-ECB4-4889DD31C4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7882B-8B89-30A7-0A5E-D0E078263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E59B-1311-D6C0-C306-50D76074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FFBAD-F71C-727F-568D-90DEBDF7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E34FE-A0AB-8D92-1AA1-3B25715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42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8362F-937F-3F00-D833-AA273CD87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B208A-3AFC-6170-6AE2-74E2E3144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4481-8561-0D39-66EC-191845DC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476E2-BD1C-0B92-30F1-22F19BC9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7ADEA-1CD0-6106-A6A2-AA9EAA96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8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F21AD-59B9-0CC8-9D6E-0CF1AB8E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BAF6F-FB29-D565-4FC4-E19671FAF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23E01-0A20-C923-1367-E2E1A3ACB0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2E0A4-3D84-4483-974F-AE3255A32BF0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A6260-0886-3E8B-33C1-C6E66263A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E614-1A13-4C58-D8E1-25E75FCB4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716423-EAFE-4B89-9138-B9B9EF137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0D54-AD5F-A3B6-C44E-BA3BFC81F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en-US"/>
              <a:t>Enterprise Cloud Architecture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B2A0-2B07-0A7F-BB25-1DF84B3ECB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en-US"/>
              <a:t>Engineering Roadmap, Microkernels, and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88806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EFB0A-CB9D-2C91-D82B-6DC8F019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Executive Strategic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E794-7279-D2D6-6FF2-9DB42633C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Cloud Infrastructure Modernization</a:t>
            </a:r>
          </a:p>
          <a:p>
            <a:pPr lvl="1"/>
            <a:r>
              <a:rPr lang="en-US"/>
              <a:t>OS Abstractions: Microkernel vs Monolithic Kernel</a:t>
            </a:r>
          </a:p>
          <a:p>
            <a:pPr lvl="1"/>
            <a:r>
              <a:rPr lang="en-US"/>
              <a:t>High-Throughput Bus Protocols</a:t>
            </a:r>
          </a:p>
          <a:p>
            <a:pPr/>
            <a:r>
              <a:rPr lang="en-US"/>
              <a:t>Distributed Consensus and Fault Recovery</a:t>
            </a:r>
          </a:p>
          <a:p>
            <a:pPr/>
            <a:r>
              <a:rPr lang="en-US"/>
              <a:t>Production Deployment and Engineering Milestones</a:t>
            </a:r>
          </a:p>
        </p:txBody>
      </p:sp>
    </p:spTree>
    <p:extLst>
      <p:ext uri="{BB962C8B-B14F-4D97-AF65-F5344CB8AC3E}">
        <p14:creationId xmlns:p14="http://schemas.microsoft.com/office/powerpoint/2010/main" val="300005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AD5AA-FEE4-2F7E-B3A8-9188DF4D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Architectural Paradigm Shifts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A454B-DC72-6BEA-232A-E8A3E5093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Deconstructing Monolithic Architectures</a:t>
            </a:r>
          </a:p>
          <a:p>
            <a:pPr lvl="1"/>
            <a:r>
              <a:rPr lang="en-US"/>
              <a:t>Replacing Shared Memory Bottlenecks with Event-Driven Message Brokers</a:t>
            </a:r>
          </a:p>
          <a:p>
            <a:pPr/>
            <a:r>
              <a:rPr lang="en-US"/>
              <a:t>Zero-Trust Security Mesh</a:t>
            </a:r>
          </a:p>
          <a:p>
            <a:pPr lvl="1"/>
            <a:r>
              <a:rPr lang="en-US"/>
              <a:t>Mutual TLS 1.3 Encryption on All Internal Communication Channels</a:t>
            </a:r>
          </a:p>
          <a:p>
            <a:pPr/>
            <a:r>
              <a:rPr lang="en-US"/>
              <a:t>Automated Chaos Engineering</a:t>
            </a:r>
          </a:p>
          <a:p>
            <a:pPr lvl="1"/>
            <a:r>
              <a:rPr lang="en-US"/>
              <a:t>Continuous Fault Injection to Guarantee Self-Healing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2715100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ADCA-4A92-D330-9D8F-C866CD28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Microkernel vs Monolithic Kernels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3FDEC-8929-95B0-AFE7-7A647CA4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/>
            <a:r>
              <a:rPr lang="en-US"/>
              <a:t>Monolithic Kernel Characteristics:</a:t>
            </a:r>
          </a:p>
          <a:p>
            <a:pPr lvl="1"/>
            <a:r>
              <a:rPr lang="en-US"/>
              <a:t>Device drivers, file systems, and network stacks run in kernel supervisor space</a:t>
            </a:r>
          </a:p>
          <a:p>
            <a:pPr lvl="2"/>
            <a:r>
              <a:rPr lang="en-US"/>
              <a:t>High performance due to direct in-kernel function calls</a:t>
            </a:r>
          </a:p>
          <a:p>
            <a:pPr lvl="2"/>
            <a:r>
              <a:rPr lang="en-US"/>
              <a:t>A single driver fault can cause a Kernel Panic and complete system crash</a:t>
            </a:r>
          </a:p>
          <a:p>
            <a:pPr/>
            <a:r>
              <a:rPr lang="en-US"/>
              <a:t>Microkernel Characteristics:</a:t>
            </a:r>
          </a:p>
          <a:p>
            <a:pPr lvl="1"/>
            <a:r>
              <a:rPr lang="en-US"/>
              <a:t>Only thread scheduling and Inter-Process Communication (IPC) reside in kernel space</a:t>
            </a:r>
          </a:p>
          <a:p>
            <a:pPr lvl="2"/>
            <a:r>
              <a:rPr lang="en-US"/>
              <a:t>Fault isolation ensures that crashed drivers in user space restart seamlessly</a:t>
            </a:r>
          </a:p>
        </p:txBody>
      </p:sp>
    </p:spTree>
    <p:extLst>
      <p:ext uri="{BB962C8B-B14F-4D97-AF65-F5344CB8AC3E}">
        <p14:creationId xmlns:p14="http://schemas.microsoft.com/office/powerpoint/2010/main" val="3384303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2B6-52B3-8D6D-B498-887CA2D4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Process Concurrency and Thread Scheduling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991B0-FA85-3BC9-53D2-DA6CF6D6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Symmetric Multiprocessing (SMP) Allocation</a:t>
            </a:r>
          </a:p>
          <a:p>
            <a:pPr lvl="1"/>
            <a:r>
              <a:rPr lang="en-US"/>
              <a:t>Lock-Free Atomic Queues Using Compare-And-Swap (CAS) Instructions</a:t>
            </a:r>
          </a:p>
          <a:p>
            <a:pPr lvl="1"/>
            <a:r>
              <a:rPr lang="en-US"/>
              <a:t>Linux PREEMPT_RT Real-Time Patch Performance Benchmarks</a:t>
            </a:r>
          </a:p>
          <a:p>
            <a:pPr lvl="2"/>
            <a:r>
              <a:rPr lang="en-US"/>
              <a:t>Guaranteed Interrupt Distribution Latency Under 10 Microseconds</a:t>
            </a:r>
          </a:p>
        </p:txBody>
      </p:sp>
    </p:spTree>
    <p:extLst>
      <p:ext uri="{BB962C8B-B14F-4D97-AF65-F5344CB8AC3E}">
        <p14:creationId xmlns:p14="http://schemas.microsoft.com/office/powerpoint/2010/main" val="4141122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7AA5-C57B-AC1C-93D4-006C5DAF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High-Throughput Inter-Process Bus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E1515-5B33-C52B-0935-74FDF71AC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Shared Memory Ring Buffers</a:t>
            </a:r>
          </a:p>
          <a:p>
            <a:pPr/>
            <a:r>
              <a:rPr lang="en-US"/>
              <a:t>Hardware Direct Memory Access (DMA) Offloading</a:t>
            </a:r>
          </a:p>
          <a:p>
            <a:pPr lvl="1"/>
            <a:r>
              <a:rPr lang="en-US"/>
              <a:t>Kernel-Bypass Networking using DPDK and eBPF filters</a:t>
            </a:r>
          </a:p>
          <a:p>
            <a:pPr lvl="2"/>
            <a:r>
              <a:rPr lang="en-US"/>
              <a:t>Achieving 100 Gbps line-rate packet processing without packet drops</a:t>
            </a:r>
          </a:p>
        </p:txBody>
      </p:sp>
    </p:spTree>
    <p:extLst>
      <p:ext uri="{BB962C8B-B14F-4D97-AF65-F5344CB8AC3E}">
        <p14:creationId xmlns:p14="http://schemas.microsoft.com/office/powerpoint/2010/main" val="2874045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F749-7B16-135F-77C2-774D2418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Subsystem Performance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06D281-DFE5-EE74-4FA1-D464E2C4D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63463"/>
              </p:ext>
            </p:extLst>
          </p:nvPr>
        </p:nvGraphicFramePr>
        <p:xfrm>
          <a:off x="1016000" y="2032000"/>
          <a:ext cx="7112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5390425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0298497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4428094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2815801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/>
                      <a:r>
                        <a:rPr lang="en-US" b="1"/>
                        <a:t>Subsystem Name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b="1"/>
                        <a:t>Latency (99th Percentile)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b="1"/>
                        <a:t>Throughput (GB/s)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b="1"/>
                        <a:t>Fault Resilience</a:t>
                      </a:r>
                    </a:p>
                  </a:txBody>
                  <a:tcP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01704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Zero-Copy IPC Bus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0.15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48.5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Dual Ring Buffer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94761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Raft Consensus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2.40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12.0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Majority Quorum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6642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LSM Storage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1.10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24.5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Write-Ahead Log (WAL)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59777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mTLS Service Mesh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0.85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18.2 GB/s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Hardware Encryption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03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77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E70D-8352-F043-DE4F-1C0ABB94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Distributed Layered Architecture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41739F-A633-20F9-0C4C-587FA73C4D81}"/>
              </a:ext>
            </a:extLst>
          </p:cNvPr>
          <p:cNvGrpSpPr/>
          <p:nvPr/>
        </p:nvGrpSpPr>
        <p:grpSpPr>
          <a:xfrm>
            <a:off x="1270000" y="2540000"/>
            <a:ext cx="6477000" cy="1270000"/>
            <a:chOff x="1270000" y="2540000"/>
            <a:chExt cx="6477000" cy="127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EBBB694-3DED-EEFE-509D-D5FD64DB7EDA}"/>
                </a:ext>
              </a:extLst>
            </p:cNvPr>
            <p:cNvSpPr/>
            <p:nvPr/>
          </p:nvSpPr>
          <p:spPr>
            <a:xfrm>
              <a:off x="1270000" y="2540000"/>
              <a:ext cx="1905000" cy="1270000"/>
            </a:xfrm>
            <a:prstGeom prst="rect">
              <a:avLst/>
            </a:prstGeom>
            <a:solidFill>
              <a:srgbClr val="DDDDD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Frontend Ingress Proxy
(Envoy Gateway)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AF82D1-8CA1-450A-DA67-56D3D3399A2A}"/>
                </a:ext>
              </a:extLst>
            </p:cNvPr>
            <p:cNvSpPr/>
            <p:nvPr/>
          </p:nvSpPr>
          <p:spPr>
            <a:xfrm>
              <a:off x="3556000" y="2540000"/>
              <a:ext cx="1905000" cy="1270000"/>
            </a:xfrm>
            <a:prstGeom prst="rect">
              <a:avLst/>
            </a:prstGeom>
            <a:solidFill>
              <a:srgbClr val="CCCC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/>
                <a:t>Core Microkernel Services
(gRPC Microservices)</a:t>
              </a: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69BE7A-8F21-AE02-2869-91B6B81C5801}"/>
                </a:ext>
              </a:extLst>
            </p:cNvPr>
            <p:cNvSpPr/>
            <p:nvPr/>
          </p:nvSpPr>
          <p:spPr>
            <a:xfrm>
              <a:off x="5842000" y="2540000"/>
              <a:ext cx="1905000" cy="1270000"/>
            </a:xfrm>
            <a:prstGeom prst="rect">
              <a:avLst/>
            </a:prstGeom>
            <a:solidFill>
              <a:srgbClr val="BBBB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Distributed Raft Storage
(NVMe LSM Cluster)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329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0AFB-1D8F-1308-3DF5-4139BF0D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Cluster Throughput and Latency Benchmarks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31BF426-8C37-6D8F-1B32-7C014E55EE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8668452"/>
              </p:ext>
            </p:extLst>
          </p:nvPr>
        </p:nvGraphicFramePr>
        <p:xfrm>
          <a:off x="1016000" y="1905000"/>
          <a:ext cx="7112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33357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34C03-EA3B-E250-D85F-0DA8766F4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Distributed Consensus and Quorum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95212-C4D8-0A77-B568-C5820222B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Leader election timeout thresholds are configured between 150 and 300 milliseconds</a:t>
            </a:r>
          </a:p>
          <a:p>
            <a:pPr/>
            <a:r>
              <a:rPr lang="en-US"/>
              <a:t>Log entries are committed only after majority quorum confirmation</a:t>
            </a:r>
          </a:p>
          <a:p>
            <a:pPr lvl="1"/>
            <a:r>
              <a:rPr lang="en-US"/>
              <a:t>Snapshot mechanisms prevent unlimited growth of log volume on disk</a:t>
            </a:r>
          </a:p>
          <a:p>
            <a:pPr lvl="1"/>
            <a:r>
              <a:rPr lang="en-US"/>
              <a:t>Dynamic membership changes without causing service downtime in the cluster</a:t>
            </a:r>
          </a:p>
        </p:txBody>
      </p:sp>
    </p:spTree>
    <p:extLst>
      <p:ext uri="{BB962C8B-B14F-4D97-AF65-F5344CB8AC3E}">
        <p14:creationId xmlns:p14="http://schemas.microsoft.com/office/powerpoint/2010/main" val="101478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CA10-43C9-549E-DC1A-A6F035A8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Distributed storage and integration with Log-Structured Merge (LSM)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1BE83-75AA-AD8E-2FE2-C238CB4E3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In-memory MemTable accumulation using concurrent Skip Lists</a:t>
            </a:r>
          </a:p>
          <a:p>
            <a:pPr/>
            <a:r>
              <a:rPr lang="en-US"/>
              <a:t>Immutable SSTables sorted by primary key persistent on disk</a:t>
            </a:r>
          </a:p>
          <a:p>
            <a:pPr lvl="1"/>
            <a:r>
              <a:rPr lang="en-US"/>
              <a:t>Tiered background compaction algorithms</a:t>
            </a:r>
          </a:p>
          <a:p>
            <a:pPr lvl="1"/>
            <a:r>
              <a:rPr lang="en-US"/>
              <a:t>Bloom filters minimize unnecessary disk searches for point-lookup requests</a:t>
            </a:r>
          </a:p>
        </p:txBody>
      </p:sp>
    </p:spTree>
    <p:extLst>
      <p:ext uri="{BB962C8B-B14F-4D97-AF65-F5344CB8AC3E}">
        <p14:creationId xmlns:p14="http://schemas.microsoft.com/office/powerpoint/2010/main" val="413953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BF749-6601-4605-7901-B033C45D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Zero-trust security and identity management infrastructure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8D693-02D6-F8C7-7EF7-567B93D8D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Each microservice has a cryptographically verifiable SPIFFE identity</a:t>
            </a:r>
          </a:p>
          <a:p>
            <a:pPr/>
            <a:r>
              <a:rPr lang="en-US"/>
              <a:t>Automatic rotation of short-lived X.509 certificates every 24 hours</a:t>
            </a:r>
          </a:p>
          <a:p>
            <a:pPr lvl="1"/>
            <a:r>
              <a:rPr lang="en-US"/>
              <a:t>Hardware Security Modules (HSMs) protect root signing keys</a:t>
            </a:r>
          </a:p>
          <a:p>
            <a:pPr lvl="1"/>
            <a:r>
              <a:rPr lang="en-US"/>
              <a:t>Role-Based Access Control (RBAC) is enforced via Open Policy Agent (OPA)</a:t>
            </a:r>
          </a:p>
        </p:txBody>
      </p:sp>
    </p:spTree>
    <p:extLst>
      <p:ext uri="{BB962C8B-B14F-4D97-AF65-F5344CB8AC3E}">
        <p14:creationId xmlns:p14="http://schemas.microsoft.com/office/powerpoint/2010/main" val="742323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1DF7D-DE0E-7139-7F23-9F056CEB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Observability, tracing, and chaos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857B7-3160-A441-6FD2-BB4390046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Distributed tracing propagation compliant with the W3C Trace Context standard</a:t>
            </a:r>
          </a:p>
          <a:p>
            <a:pPr/>
            <a:r>
              <a:rPr lang="en-US"/>
              <a:t>Prometheus metrics collection at sub-second intervals across 10,000 container pods</a:t>
            </a:r>
          </a:p>
          <a:p>
            <a:pPr lvl="1"/>
            <a:r>
              <a:rPr lang="en-US"/>
              <a:t>Automated chaos experiments simulate sudden rack-level power outages</a:t>
            </a:r>
          </a:p>
          <a:p>
            <a:pPr lvl="1"/>
            <a:r>
              <a:rPr lang="en-US"/>
              <a:t>Synthetic traffic injection validates horizontal auto-scaling</a:t>
            </a:r>
          </a:p>
        </p:txBody>
      </p:sp>
    </p:spTree>
    <p:extLst>
      <p:ext uri="{BB962C8B-B14F-4D97-AF65-F5344CB8AC3E}">
        <p14:creationId xmlns:p14="http://schemas.microsoft.com/office/powerpoint/2010/main" val="254503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BA7D-82B1-82D1-C8DD-FC2F5326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Disaster recovery and multi-region automatic failover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F731C-C478-5DEA-37CB-10BF39A14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Synchronous replication across three availability zones per region</a:t>
            </a:r>
          </a:p>
          <a:p>
            <a:pPr/>
            <a:r>
              <a:rPr lang="en-US"/>
              <a:t>Intercontinental asynchronous replication with less than 500 milliseconds latency</a:t>
            </a:r>
          </a:p>
          <a:p>
            <a:pPr lvl="1"/>
            <a:r>
              <a:rPr lang="en-US"/>
              <a:t>BGP Anycast routing dynamically reroutes client traffic during outages</a:t>
            </a:r>
          </a:p>
          <a:p>
            <a:pPr lvl="1"/>
            <a:r>
              <a:rPr lang="en-US"/>
              <a:t>Automated periodic disaster recovery drills without human intervention</a:t>
            </a:r>
          </a:p>
        </p:txBody>
      </p:sp>
    </p:spTree>
    <p:extLst>
      <p:ext uri="{BB962C8B-B14F-4D97-AF65-F5344CB8AC3E}">
        <p14:creationId xmlns:p14="http://schemas.microsoft.com/office/powerpoint/2010/main" val="3051360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70E06-065A-8DA4-7E82-262959C1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/>
              <a:t>Engineering roadmap and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3D7D7-3440-16C3-574F-D4EA7EDC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/>
              <a:t>Q1 2026: Microkernel core abstraction and zero-copy IPC validation</a:t>
            </a:r>
          </a:p>
          <a:p>
            <a:pPr lvl="1"/>
            <a:r>
              <a:rPr lang="en-US"/>
              <a:t>Q2 2026: Migration of the Raft distributed consensus engine to staging clusters</a:t>
            </a:r>
          </a:p>
          <a:p>
            <a:pPr lvl="1"/>
            <a:r>
              <a:rPr lang="en-US"/>
              <a:t>Q3 2026: Global deployment of the zero-trust service mesh across all regions</a:t>
            </a:r>
          </a:p>
          <a:p>
            <a:pPr/>
            <a:r>
              <a:rPr lang="en-US"/>
              <a:t>Q4 2026: Final migration to production environment with 99.999% availability SLA guarantee</a:t>
            </a:r>
          </a:p>
        </p:txBody>
      </p:sp>
    </p:spTree>
    <p:extLst>
      <p:ext uri="{BB962C8B-B14F-4D97-AF65-F5344CB8AC3E}">
        <p14:creationId xmlns:p14="http://schemas.microsoft.com/office/powerpoint/2010/main" val="347048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Enterprise Cloud Architecture 2026</vt:lpstr>
      <vt:lpstr>Strategic Executive Agenda</vt:lpstr>
      <vt:lpstr>Architectural Paradigm Shifts</vt:lpstr>
      <vt:lpstr>Microkernel vs Monolithic Kernels</vt:lpstr>
      <vt:lpstr>Process Concurrency &amp; Thread Scheduling</vt:lpstr>
      <vt:lpstr>High-Throughput Inter-Process Bus</vt:lpstr>
      <vt:lpstr>Subsystem Performance Matrix</vt:lpstr>
      <vt:lpstr>Distributed Tier Architecture</vt:lpstr>
      <vt:lpstr>Cluster Throughput &amp; Latency Benchmarks</vt:lpstr>
      <vt:lpstr>Distributed Consensus &amp; Quorum Governance</vt:lpstr>
      <vt:lpstr>Distributed Storage &amp; Log-Structured Merge</vt:lpstr>
      <vt:lpstr>Zero-Trust Security &amp; Identity Infrastructure</vt:lpstr>
      <vt:lpstr>Observability, Tracing &amp; Chaos Engineering</vt:lpstr>
      <vt:lpstr>Disaster Recovery &amp; Multi-Region Failover</vt:lpstr>
      <vt:lpstr>Engineering Roadmap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2026-10-04T23:09:58Z</dcterms:created>
  <dcterms:modified xsi:type="dcterms:W3CDTF">2026-10-04T23:09:58Z</dcterms:modified>
</cp:coreProperties>
</file>