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Global Cluster Throughput (Transactions / Second)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1-4355-8AD8-D83684802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F1-4355-8AD8-D83684802C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F1-4355-8AD8-D83684802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1311"/>
        <c:axId val="123440943"/>
      </c:barChart>
      <c:catAx>
        <c:axId val="191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40943"/>
        <c:crosses val="autoZero"/>
        <c:auto val="1"/>
        <c:lblAlgn val="ctr"/>
        <c:lblOffset val="100"/>
        <c:noMultiLvlLbl val="0"/>
      </c:catAx>
      <c:valAx>
        <c:axId val="1234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BF7E1-1DBC-483C-B908-B80F8301DEF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62C89-EC5C-428F-B09F-96F08457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 (Enterprise Cloud Architecture 2026):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2 (Strategic Executive Agenda):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3 (Architectural Paradigm Shifts):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3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4 (Microkernel vs Monolithic Kernels):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5 (Process Concurrency &amp; Thread Scheduling):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6 (High-Throughput Inter-Process Bus):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7 (Subsystem Performance Matrix):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8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8 (Distributed Tier Architecture):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9 (Cluster Throughput &amp; Latency Benchmarks):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10 (Distributed Consensus &amp; Quorum Governance):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9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11 (Distributed Storage &amp; Log-Structured Merge):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0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12 (Zero-Trust Security &amp; Identity Infrastructure):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81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13 (Observability, Tracing &amp; Chaos Engineering):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3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14 (Disaster Recovery &amp; Multi-Region Failover):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16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15 (Engineering Roadmap &amp; Conclusion):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60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03B6-7E4C-8ED5-6363-B3D5245C7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59F4-5188-C7EE-03D6-CF64ECC7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0921-A5F9-1371-2D71-DF2FA3A8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B0AE-5B09-D503-158F-D8DF0741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ECC2-555F-0BF2-5C8C-CC34A9B7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1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AFA8-40E0-25C0-4919-B9E5023E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1DAB-F849-1A8D-E26C-6F635C7C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8292-6B46-0DA3-F12C-9BFE8545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918E-C55F-3109-4110-7AD43058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DF25-31E7-743A-BEBA-7AF81C69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7472-C3E5-EF59-C83D-63951296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5608-0564-8B96-2D13-18805D0C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2890-A594-084B-FC6D-6BA483F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6D20-2B83-BA4B-00F9-39567CF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CC02-51C2-6161-129C-74B5EE1F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CCD5-0109-8F16-BEC9-5E33497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E98F-7514-9048-9C23-0E23CD1F8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5028-274D-7D60-C85A-F51052BAA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2C15-ECA3-5F8B-A095-8ABC684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A1BE4-4F75-9363-85E6-B522EA09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098F-12CF-684D-3B9E-F8B089D2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8D5C-AFD9-FB27-2558-E74D7CA4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BFCE-8CC3-8751-3C64-A1898726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626E-455C-6862-FEF8-0EF9333E6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FA7F-DBD1-EF71-519C-C1CE5B907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869D0-B613-0E3E-C603-C8627D89F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6B194-2B61-FADA-23AF-DA6CFF71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20F95-E980-10BD-E4CC-59DFBFCA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6F198-624A-494D-4EE8-4C16F23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8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13F4-D804-2768-C6E6-B512122F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1B1C4-43FD-72E8-5A96-18B51BC0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2AD1F-A739-48C9-5C1D-93AA44DF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50140-16BF-50FA-8A02-63ADED8A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8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3EB85-EF68-8658-2C3F-B4C712F8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73137-68F4-DBEC-1876-8883468E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7C3B-B140-6A9C-D79E-4E58268C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9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659A-AC16-8568-E988-CCD320E2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A69D-BD45-90CE-DBB8-05128DB0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FDC90-A5FC-EC41-6551-71487D77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EEC81-2EA2-4FAB-FC85-64EEBB5B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DAF8-E2F9-3B62-1C75-37CBF214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E88AC-2F65-739F-1EE8-C6B2D93E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DE8-21DF-B6BE-FD26-5A35E26C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AA233-DDFC-028C-16F4-499CF4B832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BB9AD-F212-50E6-CAE5-77A553156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50484-B889-506B-C397-7FB255B6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8D05F-6FB4-B70F-D6A5-9AD0C4ED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1545-E267-4EFC-AEF6-54E97BCC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2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5613-19C5-4F9F-61E2-43B820A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005A-4A04-8A25-1BF1-3DFAEE9E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A231-6CED-E1A0-986E-36AF5A5B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FFA7-6B9E-D6BC-3594-81D21F64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ABD2-820C-B968-91F8-822105B9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32AA5-B791-7782-ECB4-4889DD31C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882B-8B89-30A7-0A5E-D0E07826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E59B-1311-D6C0-C306-50D76074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FBAD-F71C-727F-568D-90DEBDF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E34FE-A0AB-8D92-1AA1-3B25715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4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362F-937F-3F00-D833-AA273CD8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B208A-3AFC-6170-6AE2-74E2E3144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4481-8561-0D39-66EC-191845DC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476E2-BD1C-0B92-30F1-22F19BC9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7ADEA-1CD0-6106-A6A2-AA9EAA96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F21AD-59B9-0CC8-9D6E-0CF1AB8E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AF6F-FB29-D565-4FC4-E19671FAF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3E01-0A20-C923-1367-E2E1A3ACB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6260-0886-3E8B-33C1-C6E66263A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E614-1A13-4C58-D8E1-25E75FC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0D54-AD5F-A3B6-C44E-BA3BFC81F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en-US"/>
              <a:t>معماری ابری سازمانی ۲۰۲۶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B2A0-2B07-0A7F-BB25-1DF84B3EC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rtl="1"/>
            <a:r>
              <a:rPr lang="en-US"/>
              <a:t>نقشه راه مهندسی، ریزهسته‌ها و سیستم‌های توزیع‌شده</a:t>
            </a:r>
          </a:p>
        </p:txBody>
      </p:sp>
    </p:spTree>
    <p:extLst>
      <p:ext uri="{BB962C8B-B14F-4D97-AF65-F5344CB8AC3E}">
        <p14:creationId xmlns:p14="http://schemas.microsoft.com/office/powerpoint/2010/main" val="88806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FB0A-CB9D-2C91-D82B-6DC8F019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برنامه راهبردی مدیران ارشد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E794-7279-D2D6-6FF2-9DB42633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مدرن‌سازی زیرساخت ابری</a:t>
            </a:r>
          </a:p>
          <a:p>
            <a:pPr lvl="1" algn="r" rtl="1"/>
            <a:r>
              <a:rPr lang="en-US"/>
              <a:t>انتزاع‌های سیستم‌عامل: ریزهسته در برابر هسته یکپارچه</a:t>
            </a:r>
          </a:p>
          <a:p>
            <a:pPr lvl="1" algn="r" rtl="1"/>
            <a:r>
              <a:rPr lang="en-US"/>
              <a:t>پروتکل‌های گذرگاه با توان عملیاتی بالا</a:t>
            </a:r>
          </a:p>
          <a:p>
            <a:pPr algn="r" rtl="1"/>
            <a:r>
              <a:rPr lang="en-US"/>
              <a:t>اجماع توزیع‌شده و بازیابی از خطا</a:t>
            </a:r>
          </a:p>
          <a:p>
            <a:pPr algn="r" rtl="1"/>
            <a:r>
              <a:rPr lang="en-US"/>
              <a:t>استقرار در محیط عملیاتی و نقاط عطف مهندسی</a:t>
            </a:r>
          </a:p>
        </p:txBody>
      </p:sp>
    </p:spTree>
    <p:extLst>
      <p:ext uri="{BB962C8B-B14F-4D97-AF65-F5344CB8AC3E}">
        <p14:creationId xmlns:p14="http://schemas.microsoft.com/office/powerpoint/2010/main" val="30000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D5AA-FEE4-2F7E-B3A8-9188DF4D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تغییرات پارادایم معماری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454B-DC72-6BEA-232A-E8A3E5093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تجزیه معماری یکپارچه</a:t>
            </a:r>
          </a:p>
          <a:p>
            <a:pPr lvl="1" algn="r" rtl="1"/>
            <a:r>
              <a:rPr lang="en-US"/>
              <a:t>جایگزینی گلوگاه‌های حافظه مشترک با کارگزاران پیام رویدادمحور</a:t>
            </a:r>
          </a:p>
          <a:p>
            <a:pPr algn="r" rtl="1"/>
            <a:r>
              <a:rPr lang="en-US"/>
              <a:t>مش امنیتی بر مبنای اعتماد صفر</a:t>
            </a:r>
          </a:p>
          <a:p>
            <a:pPr lvl="1" algn="r" rtl="1"/>
            <a:r>
              <a:rPr lang="en-US"/>
              <a:t>رمزنگاری TLS 1.3 دوطرفه بر روی تمام کانال‌های ارتباطی داخلی</a:t>
            </a:r>
          </a:p>
          <a:p>
            <a:pPr algn="r" rtl="1"/>
            <a:r>
              <a:rPr lang="en-US"/>
              <a:t>مهندسی آشوب خودکار</a:t>
            </a:r>
          </a:p>
          <a:p>
            <a:pPr lvl="1" algn="r" rtl="1"/>
            <a:r>
              <a:rPr lang="en-US"/>
              <a:t>تزریق مداوم خرابی برای تضمین قابلیت‌های خودترمیمی</a:t>
            </a:r>
          </a:p>
        </p:txBody>
      </p:sp>
    </p:spTree>
    <p:extLst>
      <p:ext uri="{BB962C8B-B14F-4D97-AF65-F5344CB8AC3E}">
        <p14:creationId xmlns:p14="http://schemas.microsoft.com/office/powerpoint/2010/main" val="271510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ADCA-4A92-D330-9D8F-C866CD28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ریزهسته در برابر هسته‌های یکپارچه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3FDEC-8929-95B0-AFE7-7A647CA4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/>
              <a:t>ویژگی‌های هسته یکپارچه:</a:t>
            </a:r>
          </a:p>
          <a:p>
            <a:pPr lvl="1" algn="r" rtl="1"/>
            <a:r>
              <a:rPr lang="en-US"/>
              <a:t>راه‌اندازهای دستگاه، سیستم‌های فایل و پشته شبکه در فضای ناظر هسته اجرا می‌شوند</a:t>
            </a:r>
          </a:p>
          <a:p>
            <a:pPr lvl="2" algn="r" rtl="1"/>
            <a:r>
              <a:rPr lang="en-US"/>
              <a:t>عملکرد بالا به دلیل فراخوانی‌های مستقیم توابع درون هسته</a:t>
            </a:r>
          </a:p>
          <a:p>
            <a:pPr lvl="2" algn="r" rtl="1"/>
            <a:r>
              <a:rPr lang="en-US"/>
              <a:t>خطای یک راه‌انداز منفرد می‌تواند موجب وحشت هسته (Kernel Panic) و توقف کامل سیستم شود</a:t>
            </a:r>
          </a:p>
          <a:p>
            <a:pPr algn="r" rtl="1"/>
            <a:r>
              <a:rPr lang="en-US"/>
              <a:t>ویژگی‌های ریزهسته:</a:t>
            </a:r>
          </a:p>
          <a:p>
            <a:pPr lvl="1" algn="r" rtl="1"/>
            <a:r>
              <a:rPr lang="en-US"/>
              <a:t>تنها زمان‌بندی نخ (ترد) و ارتباط بین‌فرایندی (IPC) در فضای هسته قرار دارند</a:t>
            </a:r>
          </a:p>
          <a:p>
            <a:pPr lvl="2" algn="r" rtl="1"/>
            <a:r>
              <a:rPr lang="en-US"/>
              <a:t>جداسازی خطا تضمین می‌کند راه‌اندازهای دچار خرابی در فضای کاربر بدون وقفه مجدداً راه‌اندازی شوند</a:t>
            </a:r>
          </a:p>
        </p:txBody>
      </p:sp>
    </p:spTree>
    <p:extLst>
      <p:ext uri="{BB962C8B-B14F-4D97-AF65-F5344CB8AC3E}">
        <p14:creationId xmlns:p14="http://schemas.microsoft.com/office/powerpoint/2010/main" val="338430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2B6-52B3-8D6D-B498-887CA2D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همزمانی فرایندها و زمان‌بندی نخ (ترد)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991B0-FA85-3BC9-53D2-DA6CF6D6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تخصیص چندپردازشی متقارن (SMP)</a:t>
            </a:r>
          </a:p>
          <a:p>
            <a:pPr lvl="1" algn="r" rtl="1"/>
            <a:r>
              <a:rPr lang="en-US"/>
              <a:t>صف‌های اتمیک بدون قفل با استفاده از دستورالعمل‌های مقایسه و جابه‌جایی (CAS)</a:t>
            </a:r>
          </a:p>
          <a:p>
            <a:pPr lvl="1" algn="r" rtl="1"/>
            <a:r>
              <a:rPr lang="en-US"/>
              <a:t>بنچمارک‌های عملکرد وصله بی‌درنگ PREEMPT_RT لینوکس</a:t>
            </a:r>
          </a:p>
          <a:p>
            <a:pPr lvl="2" algn="r" rtl="1"/>
            <a:r>
              <a:rPr lang="en-US"/>
              <a:t>تاخیر توزیع وقفه تضمین‌شده زیر ۱۰ میکروثانیه</a:t>
            </a:r>
          </a:p>
        </p:txBody>
      </p:sp>
    </p:spTree>
    <p:extLst>
      <p:ext uri="{BB962C8B-B14F-4D97-AF65-F5344CB8AC3E}">
        <p14:creationId xmlns:p14="http://schemas.microsoft.com/office/powerpoint/2010/main" val="414112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7AA5-C57B-AC1C-93D4-006C5DAF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گذرگاه بین‌فرایندی با توان عملیاتی بالا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1515-5B33-C52B-0935-74FDF71AC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بافرهای حلقوی حافظه مشترک</a:t>
            </a:r>
          </a:p>
          <a:p>
            <a:pPr algn="r" rtl="1"/>
            <a:r>
              <a:rPr lang="en-US"/>
              <a:t>برون‌سپاری سخت‌افزاری دسترسی مستقیم به حافظه (DMA)</a:t>
            </a:r>
          </a:p>
          <a:p>
            <a:pPr lvl="1" algn="r" rtl="1"/>
            <a:r>
              <a:rPr lang="en-US"/>
              <a:t>شبکه‌سازی با دور زدن هسته با استفاده از فیلترهای DPDK و eBPF</a:t>
            </a:r>
          </a:p>
          <a:p>
            <a:pPr lvl="2" algn="r" rtl="1"/>
            <a:r>
              <a:rPr lang="en-US"/>
              <a:t>دستیابی به پردازش بسته با نرخ خط ۱۰۰ گیگابیت بر ثانیه بدون افت بسته</a:t>
            </a:r>
          </a:p>
        </p:txBody>
      </p:sp>
    </p:spTree>
    <p:extLst>
      <p:ext uri="{BB962C8B-B14F-4D97-AF65-F5344CB8AC3E}">
        <p14:creationId xmlns:p14="http://schemas.microsoft.com/office/powerpoint/2010/main" val="287404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F749-7B16-135F-77C2-774D2418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ماتریس عملکرد زیرسیستم‌ها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06D281-DFE5-EE74-4FA1-D464E2C4D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63463"/>
              </p:ext>
            </p:extLst>
          </p:nvPr>
        </p:nvGraphicFramePr>
        <p:xfrm>
          <a:off x="1016000" y="2032000"/>
          <a:ext cx="711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5390425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298497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4428094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815801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r" rtl="1"/>
                      <a:r>
                        <a:rPr lang="en-US" b="1"/>
                        <a:t>نام زیرسیستم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/>
                        <a:t>تاخیر (صدک ۹۹ام)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/>
                        <a:t>توان عملیاتی (گیگابایت بر ثانیه)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/>
                        <a:t>تاب‌آوری در برابر خطا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1704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گذرگاه IPC بدون کپی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۰.۱۵ میلی‌ثانیه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۴۸.۵ گیگابایت بر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بافر حلقوی دوگانه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94761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موتور اجماع رفت (Raft)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۲.۴۰ میلی‌ثانیه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۱۲.۰ گیگابایت بر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حد نصاب (کوروم) اکثریتی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642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راه‌انداز ذخیره‌سازی LSM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۱.۱۰ میلی‌ثانیه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۲۴.۵ گیگابایت بر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گزارش پیش‌ثبت رویداد (WAL)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59777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مش سرویس mTLS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۰.۸۵ میلی‌ثانیه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۱۸.۲ گیگابایت بر ثانیه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/>
                        <a:t>رمزنگاری سخت‌افزاری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03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7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E70D-8352-F043-DE4F-1C0ABB94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معماری لایه‌ای توزیع‌شده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41739F-A633-20F9-0C4C-587FA73C4D81}"/>
              </a:ext>
            </a:extLst>
          </p:cNvPr>
          <p:cNvGrpSpPr/>
          <p:nvPr/>
        </p:nvGrpSpPr>
        <p:grpSpPr>
          <a:xfrm>
            <a:off x="1270000" y="2540000"/>
            <a:ext cx="6477000" cy="1270000"/>
            <a:chOff x="1270000" y="2540000"/>
            <a:chExt cx="6477000" cy="127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BB694-3DED-EEFE-509D-D5FD64DB7EDA}"/>
                </a:ext>
              </a:extLst>
            </p:cNvPr>
            <p:cNvSpPr/>
            <p:nvPr/>
          </p:nvSpPr>
          <p:spPr>
            <a:xfrm>
              <a:off x="1270000" y="2540000"/>
              <a:ext cx="1905000" cy="1270000"/>
            </a:xfrm>
            <a:prstGeom prst="rect">
              <a:avLst/>
            </a:prstGeom>
            <a:solidFill>
              <a:srgbClr val="DDDD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/>
                <a:t>پروکسی ورودی فرانت‌اند
(درگاه Envoy)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AF82D1-8CA1-450A-DA67-56D3D3399A2A}"/>
                </a:ext>
              </a:extLst>
            </p:cNvPr>
            <p:cNvSpPr/>
            <p:nvPr/>
          </p:nvSpPr>
          <p:spPr>
            <a:xfrm>
              <a:off x="3556000" y="2540000"/>
              <a:ext cx="1905000" cy="1270000"/>
            </a:xfrm>
            <a:prstGeom prst="rect">
              <a:avLst/>
            </a:prstGeom>
            <a:solidFill>
              <a:srgbClr val="CCCC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r-FR"/>
                <a:t>سرویس‌های اصلی ریزهسته
(میکروسرویس‌های gRPC)</a:t>
              </a: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69BE7A-8F21-AE02-2869-91B6B81C5801}"/>
                </a:ext>
              </a:extLst>
            </p:cNvPr>
            <p:cNvSpPr/>
            <p:nvPr/>
          </p:nvSpPr>
          <p:spPr>
            <a:xfrm>
              <a:off x="5842000" y="2540000"/>
              <a:ext cx="1905000" cy="1270000"/>
            </a:xfrm>
            <a:prstGeom prst="rect">
              <a:avLst/>
            </a:prstGeom>
            <a:solidFill>
              <a:srgbClr val="BBBB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/>
                <a:t>ذخیره‌سازی توزیع‌شده رفت
(کلاستر NVMe LSM)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2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0AFB-1D8F-1308-3DF5-4139BF0D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بنچمارک‌های توان عملیاتی و تاخیر کلاستر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1BF426-8C37-6D8F-1B32-7C014E55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668452"/>
              </p:ext>
            </p:extLst>
          </p:nvPr>
        </p:nvGraphicFramePr>
        <p:xfrm>
          <a:off x="1016000" y="19050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335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4C03-EA3B-E250-D85F-0DA8766F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اجماع توزیع‌شده و حاکمیت حد نصاب (کوروم)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95212-C4D8-0A77-B568-C5820222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آستانه‌های زمان انقضای انتخاب رهبر بین ۱۵۰ تا ۳۰۰ میلی‌ثانیه پیکربندی شده است</a:t>
            </a:r>
          </a:p>
          <a:p>
            <a:pPr algn="r" rtl="1"/>
            <a:r>
              <a:rPr lang="en-US"/>
              <a:t>مدخل‌های لاگ صرفاً پس از تایید حد نصاب (کوروم) اکثریتی نهایی (کامیت) می‌شوند</a:t>
            </a:r>
          </a:p>
          <a:p>
            <a:pPr lvl="1" algn="r" rtl="1"/>
            <a:r>
              <a:rPr lang="en-US"/>
              <a:t>مکانیزم‌های اسنپ‌شات‌گیری از رشد نامحدود حجم لاگ بر روی دیسک جلوگیری می‌کنند</a:t>
            </a:r>
          </a:p>
          <a:p>
            <a:pPr lvl="1" algn="r" rtl="1"/>
            <a:r>
              <a:rPr lang="en-US"/>
              <a:t>تغییرات پویای اعضا بدون ایجاد وقفه در سرویس‌دهی کلاستر</a:t>
            </a:r>
          </a:p>
        </p:txBody>
      </p:sp>
    </p:spTree>
    <p:extLst>
      <p:ext uri="{BB962C8B-B14F-4D97-AF65-F5344CB8AC3E}">
        <p14:creationId xmlns:p14="http://schemas.microsoft.com/office/powerpoint/2010/main" val="101478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CA10-43C9-549E-DC1A-A6F035A8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ذخیره‌سازی توزیع‌شده و ادغام با ساختار لاگ (LSM)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BE83-75AA-AD8E-2FE2-C238CB4E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انباشت درون‌حافظه‌ای MemTable با استفاده از لیست‌های پرشی (Skip Lists) همزمان</a:t>
            </a:r>
          </a:p>
          <a:p>
            <a:pPr algn="r" rtl="1"/>
            <a:r>
              <a:rPr lang="en-US"/>
              <a:t>جدول‌های تغییرناپذیر SSTable مرتب‌شده بر اساس کلید اصلی بر روی دیسک پایدار</a:t>
            </a:r>
          </a:p>
          <a:p>
            <a:pPr lvl="1" algn="r" rtl="1"/>
            <a:r>
              <a:rPr lang="en-US"/>
              <a:t>الگوریتم‌های تراکم پس‌زمینه لایه‌بندی‌شده</a:t>
            </a:r>
          </a:p>
          <a:p>
            <a:pPr lvl="1" algn="r" rtl="1"/>
            <a:r>
              <a:rPr lang="en-US"/>
              <a:t>فیلترهای بلوم جستجوهای غیرضروری دیسک را برای درخواست‌های تک‌نقطه‌ای به حداقل می‌رسانند</a:t>
            </a:r>
          </a:p>
        </p:txBody>
      </p:sp>
    </p:spTree>
    <p:extLst>
      <p:ext uri="{BB962C8B-B14F-4D97-AF65-F5344CB8AC3E}">
        <p14:creationId xmlns:p14="http://schemas.microsoft.com/office/powerpoint/2010/main" val="413953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F749-6601-4605-7901-B033C45D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امنیت اعتماد صفر و زیرساخت مدیریت هویت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8D693-02D6-F8C7-7EF7-567B93D8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هر میکروسرویس دارای یک هویت SPIFFE است که از نظر رمزنگاری قابل راستی‌آزمایی می‌باشد</a:t>
            </a:r>
          </a:p>
          <a:p>
            <a:pPr algn="r" rtl="1"/>
            <a:r>
              <a:rPr lang="en-US"/>
              <a:t>چرخش خودکار گواهی‌های کوتاه‌مدت X.509 هر ۲۴ ساعت یک‌بار</a:t>
            </a:r>
          </a:p>
          <a:p>
            <a:pPr lvl="1" algn="r" rtl="1"/>
            <a:r>
              <a:rPr lang="en-US"/>
              <a:t>ماژول‌های امنیت سخت‌افزاری (HSM) از کلیدهای امضای ریشه محافظت می‌کنند</a:t>
            </a:r>
          </a:p>
          <a:p>
            <a:pPr lvl="1" algn="r" rtl="1"/>
            <a:r>
              <a:rPr lang="en-US"/>
              <a:t>کنترل دسترسی نقش‌محور (RBAC) از طریق Open Policy Agent (OPA) اعمال می‌شود</a:t>
            </a:r>
          </a:p>
        </p:txBody>
      </p:sp>
    </p:spTree>
    <p:extLst>
      <p:ext uri="{BB962C8B-B14F-4D97-AF65-F5344CB8AC3E}">
        <p14:creationId xmlns:p14="http://schemas.microsoft.com/office/powerpoint/2010/main" val="74232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DF7D-DE0E-7139-7F23-9F056CEB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مشاهده‌پذیری، ردگیری و مهندسی آشوب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57B7-3160-A441-6FD2-BB4390046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انتشار بستر توزیع‌شده منطبق بر استاندارد W3C Trace Context</a:t>
            </a:r>
          </a:p>
          <a:p>
            <a:pPr algn="r" rtl="1"/>
            <a:r>
              <a:rPr lang="en-US"/>
              <a:t>جمع‌آوری سنجه‌های پرومتئوس در بازه‌های زیر یک ثانیه در میان ۱۰,۰۰۰ پاد کانتینری</a:t>
            </a:r>
          </a:p>
          <a:p>
            <a:pPr lvl="1" algn="r" rtl="1"/>
            <a:r>
              <a:rPr lang="en-US"/>
              <a:t>آزمایش‌های آشوب خودکار قطعی ناگهانی برق در سطح رک را شبیه‌سازی می‌کنند</a:t>
            </a:r>
          </a:p>
          <a:p>
            <a:pPr lvl="1" algn="r" rtl="1"/>
            <a:r>
              <a:rPr lang="en-US"/>
              <a:t>تزریق ترافیک ساختگی مقیاس‌پذیری افقی خودکار را اعتبارسنجی می‌کند</a:t>
            </a:r>
          </a:p>
        </p:txBody>
      </p:sp>
    </p:spTree>
    <p:extLst>
      <p:ext uri="{BB962C8B-B14F-4D97-AF65-F5344CB8AC3E}">
        <p14:creationId xmlns:p14="http://schemas.microsoft.com/office/powerpoint/2010/main" val="254503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BA7D-82B1-82D1-C8DD-FC2F5326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بازیابی فاجعه و تغییر مسیر خودکار چندمنطقه‌ای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F731C-C478-5DEA-37CB-10BF39A1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تکثیر همزمان در سه منطقه دسترسی در هر ناحیه</a:t>
            </a:r>
          </a:p>
          <a:p>
            <a:pPr algn="r" rtl="1"/>
            <a:r>
              <a:rPr lang="en-US"/>
              <a:t>تکثیر ناهمزمان بین‌قاره‌ای با تاخیر کمتر از ۵۰۰ میلی‌ثانیه</a:t>
            </a:r>
          </a:p>
          <a:p>
            <a:pPr lvl="1" algn="r" rtl="1"/>
            <a:r>
              <a:rPr lang="en-US"/>
              <a:t>مسیریابی BGP Anycast در زمان قطعی، ترافیک کلاینت‌ها را به‌صورت پویا تغییر مسیر می‌دهد</a:t>
            </a:r>
          </a:p>
          <a:p>
            <a:pPr lvl="1" algn="r" rtl="1"/>
            <a:r>
              <a:rPr lang="en-US"/>
              <a:t>تمرین‌های دوره‌ای خودکار بازیابی فاجعه بدون دخالت انسان</a:t>
            </a:r>
          </a:p>
        </p:txBody>
      </p:sp>
    </p:spTree>
    <p:extLst>
      <p:ext uri="{BB962C8B-B14F-4D97-AF65-F5344CB8AC3E}">
        <p14:creationId xmlns:p14="http://schemas.microsoft.com/office/powerpoint/2010/main" val="305136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0E06-065A-8DA4-7E82-262959C1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نقشه راه مهندسی و نتیجه‌گیری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3D7D7-3440-16C3-574F-D4EA7EDC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/>
              <a:t>سه‌ماهه اول ۲۰۲۶: انتزاع هسته ریزهسته و اعتبارسنجی IPC بدون کپی</a:t>
            </a:r>
          </a:p>
          <a:p>
            <a:pPr lvl="1" algn="r" rtl="1"/>
            <a:r>
              <a:rPr lang="en-US"/>
              <a:t>سه‌ماهه دوم ۲۰۲۶: مهاجرت موتور اجماع توزیع‌شده رفت (Raft) به کلاسترهای استیجینگ</a:t>
            </a:r>
          </a:p>
          <a:p>
            <a:pPr lvl="1" algn="r" rtl="1"/>
            <a:r>
              <a:rPr lang="en-US"/>
              <a:t>سه‌ماهه سوم ۲۰۲۶: استقرار سراسری مش سرویس اعتماد صفر در تمامی مناطق</a:t>
            </a:r>
          </a:p>
          <a:p>
            <a:pPr algn="r" rtl="1"/>
            <a:r>
              <a:rPr lang="en-US"/>
              <a:t>سه‌ماهه چهارم ۲۰۲۶: انتقال نهایی به محیط عملیاتی با تضمین قرارداد سطح خدمت با دسترس‌پذیری ۹۹.۹۹۹٪</a:t>
            </a:r>
          </a:p>
        </p:txBody>
      </p:sp>
    </p:spTree>
    <p:extLst>
      <p:ext uri="{BB962C8B-B14F-4D97-AF65-F5344CB8AC3E}">
        <p14:creationId xmlns:p14="http://schemas.microsoft.com/office/powerpoint/2010/main" val="347048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Enterprise Cloud Architecture 2026</vt:lpstr>
      <vt:lpstr>Strategic Executive Agenda</vt:lpstr>
      <vt:lpstr>Architectural Paradigm Shifts</vt:lpstr>
      <vt:lpstr>Microkernel vs Monolithic Kernels</vt:lpstr>
      <vt:lpstr>Process Concurrency &amp; Thread Scheduling</vt:lpstr>
      <vt:lpstr>High-Throughput Inter-Process Bus</vt:lpstr>
      <vt:lpstr>Subsystem Performance Matrix</vt:lpstr>
      <vt:lpstr>Distributed Tier Architecture</vt:lpstr>
      <vt:lpstr>Cluster Throughput &amp; Latency Benchmarks</vt:lpstr>
      <vt:lpstr>Distributed Consensus &amp; Quorum Governance</vt:lpstr>
      <vt:lpstr>Distributed Storage &amp; Log-Structured Merge</vt:lpstr>
      <vt:lpstr>Zero-Trust Security &amp; Identity Infrastructure</vt:lpstr>
      <vt:lpstr>Observability, Tracing &amp; Chaos Engineering</vt:lpstr>
      <vt:lpstr>Disaster Recovery &amp; Multi-Region Failover</vt:lpstr>
      <vt:lpstr>Engineering Roadmap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2026-10-04T23:09:58Z</dcterms:created>
  <dcterms:modified xsi:type="dcterms:W3CDTF">2026-10-04T23:09:58Z</dcterms:modified>
</cp:coreProperties>
</file>