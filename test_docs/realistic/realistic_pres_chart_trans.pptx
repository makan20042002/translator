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8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توان عملیاتی خوشه سراسری (تراکنش / ثانیه)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سری ۱ (گره اصلی)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ناحیه ۱ (شرق آسیا)</c:v>
                </c:pt>
                <c:pt idx="1">
                  <c:v>ناحیه ۲ (مرکز اروپا)</c:v>
                </c:pt>
                <c:pt idx="2">
                  <c:v>ناحیه ۳ (آمریکای شمالی)</c:v>
                </c:pt>
                <c:pt idx="3">
                  <c:v>ناحیه ۴ (خاورمیانه)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1F1-4355-8AD8-D83684802C5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سری ۲ (گره همتا)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ناحیه ۱ (شرق آسیا)</c:v>
                </c:pt>
                <c:pt idx="1">
                  <c:v>ناحیه ۲ (مرکز اروپا)</c:v>
                </c:pt>
                <c:pt idx="2">
                  <c:v>ناحیه ۳ (آمریکای شمالی)</c:v>
                </c:pt>
                <c:pt idx="3">
                  <c:v>ناحیه ۴ (خاورمیانه)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1F1-4355-8AD8-D83684802C5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ناحیه ۱ (شرق آسیا)</c:v>
                </c:pt>
                <c:pt idx="1">
                  <c:v>ناحیه ۲ (مرکز اروپا)</c:v>
                </c:pt>
                <c:pt idx="2">
                  <c:v>ناحیه ۳ (آمریکای شمالی)</c:v>
                </c:pt>
                <c:pt idx="3">
                  <c:v>ناحیه ۴ (خاورمیانه)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1F1-4355-8AD8-D83684802C5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11311"/>
        <c:axId val="123440943"/>
      </c:barChart>
      <c:catAx>
        <c:axId val="19113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3440943"/>
        <c:crosses val="autoZero"/>
        <c:auto val="1"/>
        <c:lblAlgn val="ctr"/>
        <c:lblOffset val="100"/>
        <c:noMultiLvlLbl val="0"/>
      </c:catAx>
      <c:valAx>
        <c:axId val="1234409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113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1BF7E1-1DBC-483C-B908-B80F8301DEFF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162C89-EC5C-428F-B09F-96F08457A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562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Speaker Note for Slide 1 (Enterprise Cloud Architecture 2026): Emphasize the architectural trade-offs between latency and throughput. Be prepared to address questions regarding failure recovery times and zero-copy memory overhead during the engineering Q&amp;A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89-EC5C-428F-B09F-96F08457A28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5590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Speaker Note for Slide 2 (Strategic Executive Agenda): Emphasize the architectural trade-offs between latency and throughput. Be prepared to address questions regarding failure recovery times and zero-copy memory overhead during the engineering Q&amp;A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89-EC5C-428F-B09F-96F08457A28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4609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Speaker Note for Slide 3 (Architectural Paradigm Shifts): Emphasize the architectural trade-offs between latency and throughput. Be prepared to address questions regarding failure recovery times and zero-copy memory overhead during the engineering Q&amp;A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89-EC5C-428F-B09F-96F08457A28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0344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Speaker Note for Slide 4 (Microkernel vs Monolithic Kernels): Emphasize the architectural trade-offs between latency and throughput. Be prepared to address questions regarding failure recovery times and zero-copy memory overhead during the engineering Q&amp;A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89-EC5C-428F-B09F-96F08457A28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750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Speaker Note for Slide 5 (Process Concurrency &amp; Thread Scheduling): Emphasize the architectural trade-offs between latency and throughput. Be prepared to address questions regarding failure recovery times and zero-copy memory overhead during the engineering Q&amp;A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89-EC5C-428F-B09F-96F08457A28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5390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Speaker Note for Slide 6 (High-Throughput Inter-Process Bus): Emphasize the architectural trade-offs between latency and throughput. Be prepared to address questions regarding failure recovery times and zero-copy memory overhead during the engineering Q&amp;A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89-EC5C-428F-B09F-96F08457A28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2364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Speaker Note for Slide 7 (Subsystem Performance Matrix): Emphasize the architectural trade-offs between latency and throughput. Be prepared to address questions regarding failure recovery times and zero-copy memory overhead during the engineering Q&amp;A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89-EC5C-428F-B09F-96F08457A28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3833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Speaker Note for Slide 8 (Distributed Tier Architecture): Emphasize the architectural trade-offs between latency and throughput. Be prepared to address questions regarding failure recovery times and zero-copy memory overhead during the engineering Q&amp;A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89-EC5C-428F-B09F-96F08457A28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7628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Speaker Note for Slide 9 (Cluster Throughput &amp; Latency Benchmarks): Emphasize the architectural trade-offs between latency and throughput. Be prepared to address questions regarding failure recovery times and zero-copy memory overhead during the engineering Q&amp;A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89-EC5C-428F-B09F-96F08457A28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8935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Speaker Note for Slide 10 (Distributed Consensus &amp; Quorum Governance): Emphasize the architectural trade-offs between latency and throughput. Be prepared to address questions regarding failure recovery times and zero-copy memory overhead during the engineering Q&amp;A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89-EC5C-428F-B09F-96F08457A28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6792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Speaker Note for Slide 11 (Distributed Storage &amp; Log-Structured Merge): Emphasize the architectural trade-offs between latency and throughput. Be prepared to address questions regarding failure recovery times and zero-copy memory overhead during the engineering Q&amp;A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89-EC5C-428F-B09F-96F08457A28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0605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Speaker Note for Slide 12 (Zero-Trust Security &amp; Identity Infrastructure): Emphasize the architectural trade-offs between latency and throughput. Be prepared to address questions regarding failure recovery times and zero-copy memory overhead during the engineering Q&amp;A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89-EC5C-428F-B09F-96F08457A28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2816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Speaker Note for Slide 13 (Observability, Tracing &amp; Chaos Engineering): Emphasize the architectural trade-offs between latency and throughput. Be prepared to address questions regarding failure recovery times and zero-copy memory overhead during the engineering Q&amp;A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89-EC5C-428F-B09F-96F08457A28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8937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Speaker Note for Slide 14 (Disaster Recovery &amp; Multi-Region Failover): Emphasize the architectural trade-offs between latency and throughput. Be prepared to address questions regarding failure recovery times and zero-copy memory overhead during the engineering Q&amp;A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89-EC5C-428F-B09F-96F08457A28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5167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Speaker Note for Slide 15 (Engineering Roadmap &amp; Conclusion): Emphasize the architectural trade-offs between latency and throughput. Be prepared to address questions regarding failure recovery times and zero-copy memory overhead during the engineering Q&amp;A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89-EC5C-428F-B09F-96F08457A28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2603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903B6-7E4C-8ED5-6363-B3D5245C73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4D59F4-5188-C7EE-03D6-CF64ECC72C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6A0921-A5F9-1371-2D71-DF2FA3A88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2E0A4-3D84-4483-974F-AE3255A32BF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A7B0AE-5B09-D503-158F-D8DF07416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4FECC2-555F-0BF2-5C8C-CC34A9B71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16423-EAFE-4B89-9138-B9B9EF137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517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8AFA8-40E0-25C0-4919-B9E5023E4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61DAB-F849-1A8D-E26C-6F635C7C4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AC8292-6B46-0DA3-F12C-9BFE85459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2E0A4-3D84-4483-974F-AE3255A32BF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F918E-C55F-3109-4110-7AD430587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CADF25-31E7-743A-BEBA-7AF81C699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16423-EAFE-4B89-9138-B9B9EF137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507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D7472-C3E5-EF59-C83D-63951296B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B45608-0564-8B96-2D13-18805D0C4E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F02890-A594-084B-FC6D-6BA483FB8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2E0A4-3D84-4483-974F-AE3255A32BF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C6D20-2B83-BA4B-00F9-39567CF58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FFCC02-51C2-6161-129C-74B5EE1F7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16423-EAFE-4B89-9138-B9B9EF137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896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0CCD5-0109-8F16-BEC9-5E33497D4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0FE98F-7514-9048-9C23-0E23CD1F88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705028-274D-7D60-C85A-F51052BAA6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FD2C15-ECA3-5F8B-A095-8ABC68441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2E0A4-3D84-4483-974F-AE3255A32BF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EA1BE4-4F75-9363-85E6-B522EA099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C0098F-12CF-684D-3B9E-F8B089D23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16423-EAFE-4B89-9138-B9B9EF137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502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C8D5C-AFD9-FB27-2558-E74D7CA4C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13BFCE-8CC3-8751-3C64-A189872652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11626E-455C-6862-FEF8-0EF9333E67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E9FA7F-DBD1-EF71-519C-C1CE5B9078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2869D0-B613-0E3E-C603-C8627D89FE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F6B194-2B61-FADA-23AF-DA6CFF716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2E0A4-3D84-4483-974F-AE3255A32BF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420F95-E980-10BD-E4CC-59DFBFCA8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A6F198-624A-494D-4EE8-4C16F2363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16423-EAFE-4B89-9138-B9B9EF137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986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F13F4-D804-2768-C6E6-B512122FC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B1B1C4-43FD-72E8-5A96-18B51BC01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2E0A4-3D84-4483-974F-AE3255A32BF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F2AD1F-A739-48C9-5C1D-93AA44DF9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950140-16BF-50FA-8A02-63ADED8A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16423-EAFE-4B89-9138-B9B9EF137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585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D3EB85-EF68-8658-2C3F-B4C712F89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2E0A4-3D84-4483-974F-AE3255A32BF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D73137-68F4-DBEC-1876-8883468E8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677C3B-B140-6A9C-D79E-4E58268C8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16423-EAFE-4B89-9138-B9B9EF137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490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1659A-AC16-8568-E988-CCD320E23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6A69D-BD45-90CE-DBB8-05128DB067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DFDC90-A5FC-EC41-6551-71487D77CE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EEEC81-2EA2-4FAB-FC85-64EEBB5BD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2E0A4-3D84-4483-974F-AE3255A32BF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C7DAF8-E2F9-3B62-1C75-37CBF214C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AE88AC-2F65-739F-1EE8-C6B2D93EB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16423-EAFE-4B89-9138-B9B9EF137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871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EBDE8-21DF-B6BE-FD26-5A35E26CC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3AA233-DDFC-028C-16F4-499CF4B832A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BBB9AD-F212-50E6-CAE5-77A553156E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050484-B889-506B-C397-7FB255B6F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2E0A4-3D84-4483-974F-AE3255A32BF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28D05F-6FB4-B70F-D6A5-9AD0C4ED9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FF1545-E267-4EFC-AEF6-54E97BCC4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16423-EAFE-4B89-9138-B9B9EF137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322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15613-19C5-4F9F-61E2-43B820AD5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99005A-4A04-8A25-1BF1-3DFAEE9E72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E7A231-6CED-E1A0-986E-36AF5A5BB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2E0A4-3D84-4483-974F-AE3255A32BF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90FFA7-6B9E-D6BC-3594-81D21F64C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A7ABD2-820C-B968-91F8-822105B9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16423-EAFE-4B89-9138-B9B9EF137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728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F32AA5-B791-7782-ECB4-4889DD31C4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97882B-8B89-30A7-0A5E-D0E0782632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EBE59B-1311-D6C0-C306-50D76074A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2E0A4-3D84-4483-974F-AE3255A32BF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0FFBAD-F71C-727F-568D-90DEBDF74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7E34FE-A0AB-8D92-1AA1-3B25715D9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16423-EAFE-4B89-9138-B9B9EF137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3420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8362F-937F-3F00-D833-AA273CD87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0B208A-3AFC-6170-6AE2-74E2E31441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4D4481-8561-0D39-66EC-191845DC2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2E0A4-3D84-4483-974F-AE3255A32BF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1476E2-BD1C-0B92-30F1-22F19BC9E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7ADEA-1CD0-6106-A6A2-AA9EAA963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16423-EAFE-4B89-9138-B9B9EF137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685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9F21AD-59B9-0CC8-9D6E-0CF1AB8EB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CBAF6F-FB29-D565-4FC4-E19671FAFE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023E01-0A20-C923-1367-E2E1A3ACB0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82E0A4-3D84-4483-974F-AE3255A32BF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6A6260-0886-3E8B-33C1-C6E66263AF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AFE614-1A13-4C58-D8E1-25E75FCB48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716423-EAFE-4B89-9138-B9B9EF137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538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40D54-AD5F-A3B6-C44E-BA3BFC81FE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Enterprise Cloud Architecture 2026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F4B2A0-2B07-0A7F-BB25-1DF84B3ECB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Engineering Roadmap, Microkernels &amp; Distributed Systems</a:t>
            </a:r>
          </a:p>
        </p:txBody>
      </p:sp>
    </p:spTree>
    <p:extLst>
      <p:ext uri="{BB962C8B-B14F-4D97-AF65-F5344CB8AC3E}">
        <p14:creationId xmlns:p14="http://schemas.microsoft.com/office/powerpoint/2010/main" val="888063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EFB0A-CB9D-2C91-D82B-6DC8F019D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Strategic Executive 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15E794-7279-D2D6-6FF2-9DB42633CE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Cloud Infrastructure Modernization</a:t>
            </a:r>
          </a:p>
          <a:p>
            <a:pPr lvl="1"/>
            <a:r>
              <a:rPr lang="en-US"/>
              <a:t>Microkernel vs Monolithic OS Abstractions</a:t>
            </a:r>
          </a:p>
          <a:p>
            <a:pPr lvl="1"/>
            <a:r>
              <a:rPr lang="en-US"/>
              <a:t>High-Throughput Bus Protocols</a:t>
            </a:r>
          </a:p>
          <a:p>
            <a:r>
              <a:rPr lang="en-US"/>
              <a:t>Distributed Consensus &amp; Fault Recovery</a:t>
            </a:r>
          </a:p>
          <a:p>
            <a:r>
              <a:rPr lang="en-US"/>
              <a:t>Production Rollout &amp; Engineering Milestones</a:t>
            </a:r>
          </a:p>
        </p:txBody>
      </p:sp>
    </p:spTree>
    <p:extLst>
      <p:ext uri="{BB962C8B-B14F-4D97-AF65-F5344CB8AC3E}">
        <p14:creationId xmlns:p14="http://schemas.microsoft.com/office/powerpoint/2010/main" val="30000516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AD5AA-FEE4-2F7E-B3A8-9188DF4D0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Architectural Paradigm Shifts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3A454B-DC72-6BEA-232A-E8A3E50935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Monolithic Decomposition</a:t>
            </a:r>
          </a:p>
          <a:p>
            <a:pPr lvl="1"/>
            <a:r>
              <a:rPr lang="en-US"/>
              <a:t>Replacing shared memory bottlenecks with event-driven message brokers</a:t>
            </a:r>
          </a:p>
          <a:p>
            <a:r>
              <a:rPr lang="en-US"/>
              <a:t>Zero-Trust Security Mesh</a:t>
            </a:r>
          </a:p>
          <a:p>
            <a:pPr lvl="1"/>
            <a:r>
              <a:rPr lang="en-US"/>
              <a:t>Mutual TLS 1.3 encryption on all internal communication channels</a:t>
            </a:r>
          </a:p>
          <a:p>
            <a:r>
              <a:rPr lang="en-US"/>
              <a:t>Automated Chaos Engineering</a:t>
            </a:r>
          </a:p>
          <a:p>
            <a:pPr lvl="1"/>
            <a:r>
              <a:rPr lang="en-US"/>
              <a:t>Continuous failure injection to ensure self-healing capabilities</a:t>
            </a:r>
          </a:p>
        </p:txBody>
      </p:sp>
    </p:spTree>
    <p:extLst>
      <p:ext uri="{BB962C8B-B14F-4D97-AF65-F5344CB8AC3E}">
        <p14:creationId xmlns:p14="http://schemas.microsoft.com/office/powerpoint/2010/main" val="27151001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7ADCA-4A92-D330-9D8F-C866CD280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Microkernel vs Monolithic Kernels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B3FDEC-8929-95B0-AFE7-7A647CA4E1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/>
              <a:t>Monolithic Kernel Properties:</a:t>
            </a:r>
          </a:p>
          <a:p>
            <a:pPr lvl="1"/>
            <a:r>
              <a:rPr lang="en-US"/>
              <a:t>Device drivers, filesystems, and networking run in kernel supervisor space</a:t>
            </a:r>
          </a:p>
          <a:p>
            <a:pPr lvl="2"/>
            <a:r>
              <a:rPr lang="en-US"/>
              <a:t>High performance due to direct in-kernel function calls</a:t>
            </a:r>
          </a:p>
          <a:p>
            <a:pPr lvl="2"/>
            <a:r>
              <a:rPr lang="en-US"/>
              <a:t>Single driver fault can trigger complete kernel panic and system crash</a:t>
            </a:r>
          </a:p>
          <a:p>
            <a:r>
              <a:rPr lang="en-US"/>
              <a:t>Microkernel Properties:</a:t>
            </a:r>
          </a:p>
          <a:p>
            <a:pPr lvl="1"/>
            <a:r>
              <a:rPr lang="en-US"/>
              <a:t>Only thread scheduling and IPC reside in kernel space</a:t>
            </a:r>
          </a:p>
          <a:p>
            <a:pPr lvl="2"/>
            <a:r>
              <a:rPr lang="en-US"/>
              <a:t>Fault isolation ensures crashed user space drivers restart seamlessly</a:t>
            </a:r>
          </a:p>
        </p:txBody>
      </p:sp>
    </p:spTree>
    <p:extLst>
      <p:ext uri="{BB962C8B-B14F-4D97-AF65-F5344CB8AC3E}">
        <p14:creationId xmlns:p14="http://schemas.microsoft.com/office/powerpoint/2010/main" val="33843039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FE2B6-52B3-8D6D-B498-887CA2D49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Process Concurrency &amp; Thread Scheduling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9991B0-FA85-3BC9-53D2-DA6CF6D6BB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Symmetric Multiprocessing (SMP) allocation</a:t>
            </a:r>
          </a:p>
          <a:p>
            <a:pPr lvl="1"/>
            <a:r>
              <a:rPr lang="en-US"/>
              <a:t>Lock-free atomic queues with Compare-And-Swap (CAS) instructions</a:t>
            </a:r>
          </a:p>
          <a:p>
            <a:pPr lvl="1"/>
            <a:r>
              <a:rPr lang="en-US"/>
              <a:t>Real-time Linux PREEMPT_RT patch performance benchmarks</a:t>
            </a:r>
          </a:p>
          <a:p>
            <a:pPr lvl="2"/>
            <a:r>
              <a:rPr lang="en-US"/>
              <a:t>Guaranteed sub-10 microsecond interrupt dispatch latency</a:t>
            </a:r>
          </a:p>
        </p:txBody>
      </p:sp>
    </p:spTree>
    <p:extLst>
      <p:ext uri="{BB962C8B-B14F-4D97-AF65-F5344CB8AC3E}">
        <p14:creationId xmlns:p14="http://schemas.microsoft.com/office/powerpoint/2010/main" val="41411224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B7AA5-C57B-AC1C-93D4-006C5DAFD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High-Throughput Inter-Process Bus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FE1515-5B33-C52B-0935-74FDF71AC3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Shared memory circular ring buffers</a:t>
            </a:r>
          </a:p>
          <a:p>
            <a:r>
              <a:rPr lang="en-US"/>
              <a:t>Direct Memory Access (DMA) hardware offloading</a:t>
            </a:r>
          </a:p>
          <a:p>
            <a:pPr lvl="1"/>
            <a:r>
              <a:rPr lang="en-US"/>
              <a:t>Kernel bypass networking utilizing DPDK and eBPF filters</a:t>
            </a:r>
          </a:p>
          <a:p>
            <a:pPr lvl="2"/>
            <a:r>
              <a:rPr lang="en-US"/>
              <a:t>Achieving 100 Gbps line-rate packet processing without packet drops</a:t>
            </a:r>
          </a:p>
        </p:txBody>
      </p:sp>
    </p:spTree>
    <p:extLst>
      <p:ext uri="{BB962C8B-B14F-4D97-AF65-F5344CB8AC3E}">
        <p14:creationId xmlns:p14="http://schemas.microsoft.com/office/powerpoint/2010/main" val="28740457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9F749-7B16-135F-77C2-774D24180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Subsystem Performance Matrix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206D281-DFE5-EE74-4FA1-D464E2C4D4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0263463"/>
              </p:ext>
            </p:extLst>
          </p:nvPr>
        </p:nvGraphicFramePr>
        <p:xfrm>
          <a:off x="1016000" y="2032000"/>
          <a:ext cx="71120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8000">
                  <a:extLst>
                    <a:ext uri="{9D8B030D-6E8A-4147-A177-3AD203B41FA5}">
                      <a16:colId xmlns:a16="http://schemas.microsoft.com/office/drawing/2014/main" val="53904252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102984973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844280947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28158014"/>
                    </a:ext>
                  </a:extLst>
                </a:gridCol>
              </a:tblGrid>
              <a:tr h="660400">
                <a:tc>
                  <a:txBody>
                    <a:bodyPr/>
                    <a:lstStyle/>
                    <a:p>
                      <a:r>
                        <a:rPr lang="en-US" b="1"/>
                        <a:t>Subsystem Name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Latency (P99)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Throughput (GB/s)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Fault Resilience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3017047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r>
                        <a:rPr lang="en-US"/>
                        <a:t>Zero-Copy IPC Bus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0.15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48.5 GB/s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Dual Ring Buffer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5947615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r>
                        <a:rPr lang="en-US"/>
                        <a:t>Raft Consensus 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2.40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12.0 GB/s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Majority Quorum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5664204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r>
                        <a:rPr lang="en-US"/>
                        <a:t>LSM Storage Driver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1.10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24.5 GB/s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Write-Ahead Log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6597774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r>
                        <a:rPr lang="en-US"/>
                        <a:t>mTLS Service Mesh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0.85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18.2 GB/s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Hardware Crypto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2038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22774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8E70D-8352-F043-DE4F-1C0ABB94A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Distributed Tier Architecture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741739F-A633-20F9-0C4C-587FA73C4D81}"/>
              </a:ext>
            </a:extLst>
          </p:cNvPr>
          <p:cNvGrpSpPr/>
          <p:nvPr/>
        </p:nvGrpSpPr>
        <p:grpSpPr>
          <a:xfrm>
            <a:off x="1270000" y="2540000"/>
            <a:ext cx="6477000" cy="1270000"/>
            <a:chOff x="1270000" y="2540000"/>
            <a:chExt cx="6477000" cy="1270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EBBB694-3DED-EEFE-509D-D5FD64DB7EDA}"/>
                </a:ext>
              </a:extLst>
            </p:cNvPr>
            <p:cNvSpPr/>
            <p:nvPr/>
          </p:nvSpPr>
          <p:spPr>
            <a:xfrm>
              <a:off x="1270000" y="2540000"/>
              <a:ext cx="1905000" cy="1270000"/>
            </a:xfrm>
            <a:prstGeom prst="rect">
              <a:avLst/>
            </a:prstGeom>
            <a:solidFill>
              <a:srgbClr val="DDDDD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Frontend Ingress Proxy
(Envoy Gateway)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5AF82D1-8CA1-450A-DA67-56D3D3399A2A}"/>
                </a:ext>
              </a:extLst>
            </p:cNvPr>
            <p:cNvSpPr/>
            <p:nvPr/>
          </p:nvSpPr>
          <p:spPr>
            <a:xfrm>
              <a:off x="3556000" y="2540000"/>
              <a:ext cx="1905000" cy="1270000"/>
            </a:xfrm>
            <a:prstGeom prst="rect">
              <a:avLst/>
            </a:prstGeom>
            <a:solidFill>
              <a:srgbClr val="CCCCC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/>
                <a:t>Microkernel Core Services
(gRPC Microservices)</a:t>
              </a:r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769BE7A-8F21-AE02-2869-91B6B81C5801}"/>
                </a:ext>
              </a:extLst>
            </p:cNvPr>
            <p:cNvSpPr/>
            <p:nvPr/>
          </p:nvSpPr>
          <p:spPr>
            <a:xfrm>
              <a:off x="5842000" y="2540000"/>
              <a:ext cx="1905000" cy="1270000"/>
            </a:xfrm>
            <a:prstGeom prst="rect">
              <a:avLst/>
            </a:prstGeom>
            <a:solidFill>
              <a:srgbClr val="BBBBB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Distributed Raft Storage
(NVMe LSM Cluster)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832944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D0AFB-1D8F-1308-3DF5-4139BF0D6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Cluster Throughput &amp; Latency Benchmarks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E31BF426-8C37-6D8F-1B32-7C014E55EE4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98668452"/>
              </p:ext>
            </p:extLst>
          </p:nvPr>
        </p:nvGraphicFramePr>
        <p:xfrm>
          <a:off x="1016000" y="1905000"/>
          <a:ext cx="7112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3333571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34C03-EA3B-E250-D85F-0DA8766F4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Distributed Consensus &amp; Quorum Governance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F95212-C4D8-0A77-B568-C5820222BD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Leader election timeout thresholds configured at 150-300ms</a:t>
            </a:r>
          </a:p>
          <a:p>
            <a:r>
              <a:rPr lang="en-US"/>
              <a:t>Log entries committed strictly upon majority quorum acknowledgment</a:t>
            </a:r>
          </a:p>
          <a:p>
            <a:pPr lvl="1"/>
            <a:r>
              <a:rPr lang="en-US"/>
              <a:t>Snapshotting mechanisms prevent unbounded log disk growth</a:t>
            </a:r>
          </a:p>
          <a:p>
            <a:pPr lvl="1"/>
            <a:r>
              <a:rPr lang="en-US"/>
              <a:t>Dynamic membership changes without cluster service interruption</a:t>
            </a:r>
          </a:p>
        </p:txBody>
      </p:sp>
    </p:spTree>
    <p:extLst>
      <p:ext uri="{BB962C8B-B14F-4D97-AF65-F5344CB8AC3E}">
        <p14:creationId xmlns:p14="http://schemas.microsoft.com/office/powerpoint/2010/main" val="10147885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ACA10-43C9-549E-DC1A-A6F035A8A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Distributed Storage &amp; Log-Structured Merge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C1BE83-75AA-AD8E-2FE2-C238CB4E30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In-memory MemTable accumulation with concurrent skip lists</a:t>
            </a:r>
          </a:p>
          <a:p>
            <a:r>
              <a:rPr lang="en-US"/>
              <a:t>Immutable SSTables sorted by primary key on persistent disk</a:t>
            </a:r>
          </a:p>
          <a:p>
            <a:pPr lvl="1"/>
            <a:r>
              <a:rPr lang="en-US"/>
              <a:t>Tiered background compaction algorithms</a:t>
            </a:r>
          </a:p>
          <a:p>
            <a:pPr lvl="1"/>
            <a:r>
              <a:rPr lang="en-US"/>
              <a:t>Bloom filters minimize unnecessary disk seeks for point lookups</a:t>
            </a:r>
          </a:p>
        </p:txBody>
      </p:sp>
    </p:spTree>
    <p:extLst>
      <p:ext uri="{BB962C8B-B14F-4D97-AF65-F5344CB8AC3E}">
        <p14:creationId xmlns:p14="http://schemas.microsoft.com/office/powerpoint/2010/main" val="41395336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BF749-6601-4605-7901-B033C45D8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Zero-Trust Security &amp; Identity Infrastructure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8D693-02D6-F8C7-7EF7-567B93D8D7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Every microservice possesses a cryptographically verifiable SPIFFE identity</a:t>
            </a:r>
          </a:p>
          <a:p>
            <a:r>
              <a:rPr lang="en-US"/>
              <a:t>Automated short-lived X.509 certificate rotation every 24 hours</a:t>
            </a:r>
          </a:p>
          <a:p>
            <a:pPr lvl="1"/>
            <a:r>
              <a:rPr lang="en-US"/>
              <a:t>Hardware Security Modules (HSM) safeguard root signing keys</a:t>
            </a:r>
          </a:p>
          <a:p>
            <a:pPr lvl="1"/>
            <a:r>
              <a:rPr lang="en-US"/>
              <a:t>Role-Based Access Control (RBAC) enforced via Open Policy Agent (OPA)</a:t>
            </a:r>
          </a:p>
        </p:txBody>
      </p:sp>
    </p:spTree>
    <p:extLst>
      <p:ext uri="{BB962C8B-B14F-4D97-AF65-F5344CB8AC3E}">
        <p14:creationId xmlns:p14="http://schemas.microsoft.com/office/powerpoint/2010/main" val="7423237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1DF7D-DE0E-7139-7F23-9F056CEBF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Observability, Tracing &amp; Chaos Engineering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0857B7-3160-A441-6FD2-BB43900463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Distributed context propagation conforming to W3C Trace Context</a:t>
            </a:r>
          </a:p>
          <a:p>
            <a:r>
              <a:rPr lang="en-US"/>
              <a:t>Sub-second Prometheus metric scraping across 10,000 container pods</a:t>
            </a:r>
          </a:p>
          <a:p>
            <a:pPr lvl="1"/>
            <a:r>
              <a:rPr lang="en-US"/>
              <a:t>Automated chaos experiments simulate sudden rack-level power outages</a:t>
            </a:r>
          </a:p>
          <a:p>
            <a:pPr lvl="1"/>
            <a:r>
              <a:rPr lang="en-US"/>
              <a:t>Synthetic traffic injection validates automated horizontal autoscaling</a:t>
            </a:r>
          </a:p>
        </p:txBody>
      </p:sp>
    </p:spTree>
    <p:extLst>
      <p:ext uri="{BB962C8B-B14F-4D97-AF65-F5344CB8AC3E}">
        <p14:creationId xmlns:p14="http://schemas.microsoft.com/office/powerpoint/2010/main" val="25450364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1BA7D-82B1-82D1-C8DD-FC2F53262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Disaster Recovery &amp; Multi-Region Failover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4F731C-C478-5DEA-37CB-10BF39A149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Synchronous replication across three availability zones per region</a:t>
            </a:r>
          </a:p>
          <a:p>
            <a:r>
              <a:rPr lang="en-US"/>
              <a:t>Asynchronous cross-continental replication with sub-500ms lag</a:t>
            </a:r>
          </a:p>
          <a:p>
            <a:pPr lvl="1"/>
            <a:r>
              <a:rPr lang="en-US"/>
              <a:t>BGP Anycast routing dynamically redirects client traffic during outages</a:t>
            </a:r>
          </a:p>
          <a:p>
            <a:pPr lvl="1"/>
            <a:r>
              <a:rPr lang="en-US"/>
              <a:t>Regular automated disaster recovery drills without human intervention</a:t>
            </a:r>
          </a:p>
        </p:txBody>
      </p:sp>
    </p:spTree>
    <p:extLst>
      <p:ext uri="{BB962C8B-B14F-4D97-AF65-F5344CB8AC3E}">
        <p14:creationId xmlns:p14="http://schemas.microsoft.com/office/powerpoint/2010/main" val="30513605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70E06-065A-8DA4-7E82-262959C1B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Engineering Roadmap &amp; 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03D7D7-3440-16C3-574F-D4EA7EDCC7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Q1 2026: Core microkernel abstraction and zero-copy IPC verification</a:t>
            </a:r>
          </a:p>
          <a:p>
            <a:pPr lvl="1"/>
            <a:r>
              <a:rPr lang="en-US"/>
              <a:t>Q2 2026: Raft distributed consensus engine migration to staging clusters</a:t>
            </a:r>
          </a:p>
          <a:p>
            <a:pPr lvl="1"/>
            <a:r>
              <a:rPr lang="en-US"/>
              <a:t>Q3 2026: Global zero-trust service mesh deployment across all regions</a:t>
            </a:r>
          </a:p>
          <a:p>
            <a:r>
              <a:rPr lang="en-US"/>
              <a:t>Q4 2026: Full production cutover with 99.999% availability SLA guarantee</a:t>
            </a:r>
          </a:p>
        </p:txBody>
      </p:sp>
    </p:spTree>
    <p:extLst>
      <p:ext uri="{BB962C8B-B14F-4D97-AF65-F5344CB8AC3E}">
        <p14:creationId xmlns:p14="http://schemas.microsoft.com/office/powerpoint/2010/main" val="34704837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1169</Words>
  <Application>Microsoft Office PowerPoint</Application>
  <PresentationFormat>Widescreen</PresentationFormat>
  <Paragraphs>120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Enterprise Cloud Architecture 2026</vt:lpstr>
      <vt:lpstr>Strategic Executive Agenda</vt:lpstr>
      <vt:lpstr>Architectural Paradigm Shifts</vt:lpstr>
      <vt:lpstr>Microkernel vs Monolithic Kernels</vt:lpstr>
      <vt:lpstr>Process Concurrency &amp; Thread Scheduling</vt:lpstr>
      <vt:lpstr>High-Throughput Inter-Process Bus</vt:lpstr>
      <vt:lpstr>Subsystem Performance Matrix</vt:lpstr>
      <vt:lpstr>Distributed Tier Architecture</vt:lpstr>
      <vt:lpstr>Cluster Throughput &amp; Latency Benchmarks</vt:lpstr>
      <vt:lpstr>Distributed Consensus &amp; Quorum Governance</vt:lpstr>
      <vt:lpstr>Distributed Storage &amp; Log-Structured Merge</vt:lpstr>
      <vt:lpstr>Zero-Trust Security &amp; Identity Infrastructure</vt:lpstr>
      <vt:lpstr>Observability, Tracing &amp; Chaos Engineering</vt:lpstr>
      <vt:lpstr>Disaster Recovery &amp; Multi-Region Failover</vt:lpstr>
      <vt:lpstr>Engineering Roadmap &amp;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makan mm</dc:creator>
  <cp:lastModifiedBy>makan mm</cp:lastModifiedBy>
  <cp:revision>1</cp:revision>
  <dcterms:created xsi:type="dcterms:W3CDTF">2026-10-04T23:09:58Z</dcterms:created>
  <dcterms:modified xsi:type="dcterms:W3CDTF">2026-10-04T23:09:58Z</dcterms:modified>
</cp:coreProperties>
</file>